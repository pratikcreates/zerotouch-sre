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D1C5"/>
                </a:solidFill>
                <a:latin typeface="Arial"/>
              </a:defRPr>
            </a:pPr>
            <a:r>
              <a:t>GOOGLE CLOUD RAPID AGENT HACKATHON  |  DYNATRACE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FFFFFF"/>
                </a:solidFill>
                <a:latin typeface="Arial"/>
              </a:defRPr>
            </a:pPr>
            <a:r>
              <a:t>ZeroTouch SRE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A0AEC0"/>
                </a:solidFill>
                <a:latin typeface="Arial"/>
              </a:defRPr>
            </a:pPr>
            <a:r>
              <a:t>Autonomous incident triage and mitigation planning for production outages.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EE7B7"/>
                </a:solidFill>
                <a:latin typeface="Arial"/>
              </a:defRPr>
            </a:pPr>
            <a:r>
              <a:t>Built by Pratik Shah  •  Powered by Google Gemini &amp; Dynatrace OpenPipeline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4FD1C5"/>
                </a:solidFill>
                <a:latin typeface="Arial"/>
              </a:defRPr>
            </a:pPr>
            <a:r>
              <a:t>ZEROTOUCH SRE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3 AM Scramble: Production Incident Chaos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4FD1C5"/>
                </a:solidFill>
                <a:latin typeface="Arial"/>
              </a:defRPr>
            </a:pPr>
            <a:r>
              <a:t>The Challenge</a:t>
            </a:r>
          </a:p>
          <a:p>
            <a:pPr>
              <a:spcAft>
                <a:spcPts val="1400"/>
              </a:spcAft>
              <a:defRPr sz="1500">
                <a:solidFill>
                  <a:srgbClr val="A0AEC0"/>
                </a:solidFill>
                <a:latin typeface="Arial"/>
              </a:defRPr>
            </a:pPr>
            <a:r>
              <a:t>When critical systems go down, SRE and DevOps teams lose invaluable time doing context-switching: searching through logs, analyzing dashboards, and opening incident channels.</a:t>
            </a:r>
          </a:p>
          <a:p>
            <a:pPr>
              <a:spcAft>
                <a:spcPts val="14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First 15 Minutes are wasted purely forming a hypothesis.</a:t>
            </a:r>
            <a:br/>
            <a:r>
              <a:t>• Alert Storms create high cognitive load and noise.</a:t>
            </a:r>
            <a:br/>
            <a:r>
              <a:t>• Manual Runbooks are static, outdated, or hard to locate.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6EE7B7"/>
                </a:solidFill>
                <a:latin typeface="Arial"/>
              </a:defRPr>
            </a:pPr>
            <a:r>
              <a:t>The Opportunity</a:t>
            </a:r>
          </a:p>
          <a:p>
            <a:pPr>
              <a:spcAft>
                <a:spcPts val="1400"/>
              </a:spcAft>
              <a:defRPr sz="1500">
                <a:solidFill>
                  <a:srgbClr val="A0AEC0"/>
                </a:solidFill>
                <a:latin typeface="Arial"/>
              </a:defRPr>
            </a:pPr>
            <a:r>
              <a:t>What if we could automate the entire first phase of incident response? Go from raw webhook alert to fully-diagnosed root cause, safe mitigations, and runbooks in under 5 seconds.</a:t>
            </a:r>
          </a:p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• Instant Triage: Immediate diagnosis using real-time telemetry.</a:t>
            </a:r>
            <a:br/>
            <a:r>
              <a:t>• Bidirectional Audit: observability systems are kept updated.</a:t>
            </a:r>
            <a:br/>
            <a:r>
              <a:t>• Safe Execution: Gated actions to protect the production surface.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4FD1C5"/>
                </a:solidFill>
                <a:latin typeface="Arial"/>
              </a:defRPr>
            </a:pPr>
            <a:r>
              <a:t>ZEROTOUCH SRE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ZeroTouch SRE: Webhook-to-Artifact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FD1C5"/>
                </a:solidFill>
                <a:latin typeface="Arial"/>
              </a:defRPr>
            </a:pPr>
            <a:r>
              <a:t>Autonomous Response Loop</a:t>
            </a:r>
          </a:p>
          <a:p>
            <a:pPr>
              <a:defRPr sz="1400" b="1">
                <a:solidFill>
                  <a:srgbClr val="6EE7B7"/>
                </a:solidFill>
                <a:latin typeface="Arial"/>
              </a:defRPr>
            </a:pPr>
            <a:r>
              <a:t>✔ Webhook Integration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Arial"/>
              </a:defRPr>
            </a:pPr>
            <a:r>
              <a:t>Receives raw alerts directly from PagerDuty, Alertmanager, or Dynatrace webhooks.</a:t>
            </a:r>
          </a:p>
          <a:p>
            <a:pPr>
              <a:defRPr sz="1400" b="1">
                <a:solidFill>
                  <a:srgbClr val="6EE7B7"/>
                </a:solidFill>
                <a:latin typeface="Arial"/>
              </a:defRPr>
            </a:pPr>
            <a:r>
              <a:t>✔ Bidirectional Telemetry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Arial"/>
              </a:defRPr>
            </a:pPr>
            <a:r>
              <a:t>Pushes structured audit events into Dynatrace OpenPipeline AND pulls Grail logs dynamically.</a:t>
            </a:r>
          </a:p>
          <a:p>
            <a:pPr>
              <a:defRPr sz="1400" b="1">
                <a:solidFill>
                  <a:srgbClr val="6EE7B7"/>
                </a:solidFill>
                <a:latin typeface="Arial"/>
              </a:defRPr>
            </a:pPr>
            <a:r>
              <a:t>✔ Gemini-Powered Reasoning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Arial"/>
              </a:defRPr>
            </a:pPr>
            <a:r>
              <a:t>Determines root cause with confidence score and suggests allowlisted mitigations.</a:t>
            </a:r>
          </a:p>
          <a:p>
            <a:pPr>
              <a:defRPr sz="1400" b="1">
                <a:solidFill>
                  <a:srgbClr val="6EE7B7"/>
                </a:solidFill>
                <a:latin typeface="Arial"/>
              </a:defRPr>
            </a:pPr>
            <a:r>
              <a:t>✔ Auto-Generated Artifacts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Arial"/>
              </a:defRPr>
            </a:pPr>
            <a:r>
              <a:t>Instantly writes Post-Mortem reports, JSON runbooks, and detailed execution traces.</a:t>
            </a:r>
          </a:p>
        </p:txBody>
      </p:sp>
      <p:pic>
        <p:nvPicPr>
          <p:cNvPr id="5" name="Picture 4" descr="cloud-01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645920"/>
            <a:ext cx="55778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4FD1C5"/>
                </a:solidFill>
                <a:latin typeface="Arial"/>
              </a:defRPr>
            </a:pPr>
            <a:r>
              <a:t>ZEROTOUCH SRE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Live Outage Analysis: Checkout Incident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FD1C5"/>
                </a:solidFill>
                <a:latin typeface="Arial"/>
              </a:defRPr>
            </a:pPr>
            <a:r>
              <a:t>Incident: CPU Spike &amp; 500 Surge</a:t>
            </a:r>
          </a:p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1. Root Cause Analysis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Arial"/>
              </a:defRPr>
            </a:pPr>
            <a:r>
              <a:t>Detected checkout-api saturated CPU at 88.0% correlated with a recent deployment. HTTP 500 error rate surged to 5.5%.</a:t>
            </a:r>
          </a:p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2. Safe Mitigations Planned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Arial"/>
              </a:defRPr>
            </a:pPr>
            <a:r>
              <a:t>Proposed: scale_service (scale checkout-api), rollback_release (revert last deployment), open_incident_channel.</a:t>
            </a:r>
          </a:p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3. Telemetry Evidence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Arial"/>
              </a:defRPr>
            </a:pPr>
            <a:r>
              <a:t>Verified using live Grail logs via Dynatrace APIs. Log context analyzed by Gemini to generate diagnosis.</a:t>
            </a:r>
          </a:p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4. Performance Metrics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Arial"/>
              </a:defRPr>
            </a:pPr>
            <a:r>
              <a:t>Triage loop completed in 4.1 seconds. Cost: &lt; 0.05 INR using optimized Gemini token controls.</a:t>
            </a:r>
          </a:p>
        </p:txBody>
      </p:sp>
      <p:pic>
        <p:nvPicPr>
          <p:cNvPr id="5" name="Picture 4" descr="cloud-02-incident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645920"/>
            <a:ext cx="55778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4FD1C5"/>
                </a:solidFill>
                <a:latin typeface="Arial"/>
              </a:defRPr>
            </a:pPr>
            <a:r>
              <a:t>ZEROTOUCH SRE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Safety Model: Useful, Not Dangerous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4FD1C5"/>
                </a:solidFill>
                <a:latin typeface="Arial"/>
              </a:defRPr>
            </a:pPr>
            <a:r>
              <a:t>Designed for Production Safety</a:t>
            </a:r>
          </a:p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🛡 Simulation-Only execution by default. No live production writes.</a:t>
            </a:r>
          </a:p>
          <a:p>
            <a:pPr>
              <a:spcAft>
                <a:spcPts val="1200"/>
              </a:spcAft>
              <a:defRPr sz="1200">
                <a:solidFill>
                  <a:srgbClr val="A0AEC0"/>
                </a:solidFill>
                <a:latin typeface="Arial"/>
              </a:defRPr>
            </a:pPr>
            <a:r>
              <a:t>Allows full agent evaluation and scenario reviews without risk of service disruption.</a:t>
            </a:r>
          </a:p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🛡 Strict operation allowlists (scale, rollback, notify).</a:t>
            </a:r>
          </a:p>
          <a:p>
            <a:pPr>
              <a:spcAft>
                <a:spcPts val="1200"/>
              </a:spcAft>
              <a:defRPr sz="1200">
                <a:solidFill>
                  <a:srgbClr val="A0AEC0"/>
                </a:solidFill>
                <a:latin typeface="Arial"/>
              </a:defRPr>
            </a:pPr>
            <a:r>
              <a:t>Any command or script outside the allowed SRE playbook is blocked instantly at the gate.</a:t>
            </a:r>
          </a:p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🛡 Cost limits and token budgets checked on every single execution.</a:t>
            </a:r>
          </a:p>
          <a:p>
            <a:pPr>
              <a:spcAft>
                <a:spcPts val="1200"/>
              </a:spcAft>
              <a:defRPr sz="1200">
                <a:solidFill>
                  <a:srgbClr val="A0AEC0"/>
                </a:solidFill>
                <a:latin typeface="Arial"/>
              </a:defRPr>
            </a:pPr>
            <a:r>
              <a:t>Prevents runaway loops. Estimated token burn tracked in INR against custom budgets.</a:t>
            </a:r>
          </a:p>
        </p:txBody>
      </p:sp>
      <p:pic>
        <p:nvPicPr>
          <p:cNvPr id="5" name="Picture 4" descr="cloud-03-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4FD1C5"/>
                </a:solidFill>
                <a:latin typeface="Arial"/>
              </a:defRPr>
            </a:pPr>
            <a:r>
              <a:t>ZEROTOUCH SRE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Under the Hood: Cloud Architecture &amp;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4FD1C5"/>
                </a:solidFill>
                <a:latin typeface="Arial"/>
              </a:defRPr>
            </a:pPr>
            <a:r>
              <a:t>Architecture Components</a:t>
            </a:r>
          </a:p>
          <a:p>
            <a:pPr>
              <a:defRPr sz="1400" b="1">
                <a:solidFill>
                  <a:srgbClr val="6EE7B7"/>
                </a:solidFill>
                <a:latin typeface="Arial"/>
              </a:defRPr>
            </a:pPr>
            <a:r>
              <a:t>⚡ FastAPI Backend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Arial"/>
              </a:defRPr>
            </a:pPr>
            <a:r>
              <a:t>Lightweight, async Python framework serving high-speed API endpoints and incident review templates.</a:t>
            </a:r>
          </a:p>
          <a:p>
            <a:pPr>
              <a:defRPr sz="1400" b="1">
                <a:solidFill>
                  <a:srgbClr val="6EE7B7"/>
                </a:solidFill>
                <a:latin typeface="Arial"/>
              </a:defRPr>
            </a:pPr>
            <a:r>
              <a:t>⚡ Google Cloud Run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Arial"/>
              </a:defRPr>
            </a:pPr>
            <a:r>
              <a:t>Serverless deployment scaling to zero, ensuring minimal idle cost while remaining instantly responsive to incoming webhooks.</a:t>
            </a:r>
          </a:p>
          <a:p>
            <a:pPr>
              <a:defRPr sz="1400" b="1">
                <a:solidFill>
                  <a:srgbClr val="6EE7B7"/>
                </a:solidFill>
                <a:latin typeface="Arial"/>
              </a:defRPr>
            </a:pPr>
            <a:r>
              <a:t>⚡ Dynatrace Grail &amp; OpenPipeline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Arial"/>
              </a:defRPr>
            </a:pPr>
            <a:r>
              <a:t>Bidirectional flow via standard REST APIs. Pushes alert audit trails and pulls real-time log evidence.</a:t>
            </a:r>
          </a:p>
          <a:p>
            <a:pPr>
              <a:defRPr sz="1400" b="1">
                <a:solidFill>
                  <a:srgbClr val="6EE7B7"/>
                </a:solidFill>
                <a:latin typeface="Arial"/>
              </a:defRPr>
            </a:pPr>
            <a:r>
              <a:t>⚡ Vertex AI / Google Gemini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  <a:latin typeface="Arial"/>
              </a:defRPr>
            </a:pPr>
            <a:r>
              <a:t>High-context LLM reasoning about telemetry, generating structured incident reports and executable action plans.</a:t>
            </a:r>
          </a:p>
        </p:txBody>
      </p:sp>
      <p:pic>
        <p:nvPicPr>
          <p:cNvPr id="5" name="Picture 4" descr="03-architecture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5212080" cy="3474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